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39ed64e3f944de" /><Relationship Type="http://schemas.openxmlformats.org/officeDocument/2006/relationships/extended-properties" Target="/docProps/app.xml" Id="R696928ca09344242" /><Relationship Type="http://schemas.openxmlformats.org/officeDocument/2006/relationships/officeDocument" Target="/ppt/presentation.xml" Id="R97627442d7394d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14cc911a4b4818"/>
  </p:sldMasterIdLst>
  <p:notesMasterIdLst>
    <p:notesMasterId xmlns:r="http://schemas.openxmlformats.org/officeDocument/2006/relationships" r:id="R2513c57c5a134b8c"/>
  </p:notesMasterIdLst>
  <p:sldIdLst>
    <p:sldId xmlns:r="http://schemas.openxmlformats.org/officeDocument/2006/relationships" id="256" r:id="R48d3eecc4f1345b3"/>
    <p:sldId xmlns:r="http://schemas.openxmlformats.org/officeDocument/2006/relationships" id="257" r:id="R3a3c62b8994343dd"/>
    <p:sldId xmlns:r="http://schemas.openxmlformats.org/officeDocument/2006/relationships" id="258" r:id="R8992c4b8ea2f491e"/>
    <p:sldId xmlns:r="http://schemas.openxmlformats.org/officeDocument/2006/relationships" id="259" r:id="R429e54f54f144caf"/>
    <p:sldId xmlns:r="http://schemas.openxmlformats.org/officeDocument/2006/relationships" id="260" r:id="R8a86009d0ae44117"/>
    <p:sldId xmlns:r="http://schemas.openxmlformats.org/officeDocument/2006/relationships" id="261" r:id="R151f0114828f408c"/>
    <p:sldId xmlns:r="http://schemas.openxmlformats.org/officeDocument/2006/relationships" id="262" r:id="R1c30d72be49c4f92"/>
    <p:sldId xmlns:r="http://schemas.openxmlformats.org/officeDocument/2006/relationships" id="263" r:id="Ra69d6fe6166346eb"/>
    <p:sldId xmlns:r="http://schemas.openxmlformats.org/officeDocument/2006/relationships" id="264" r:id="Rb7b546fdb6ec436a"/>
    <p:sldId xmlns:r="http://schemas.openxmlformats.org/officeDocument/2006/relationships" id="265" r:id="R712b920890174cef"/>
    <p:sldId xmlns:r="http://schemas.openxmlformats.org/officeDocument/2006/relationships" id="266" r:id="R72e29000528a456c"/>
    <p:sldId xmlns:r="http://schemas.openxmlformats.org/officeDocument/2006/relationships" id="267" r:id="Rb307123a83d14764"/>
    <p:sldId xmlns:r="http://schemas.openxmlformats.org/officeDocument/2006/relationships" id="268" r:id="Ra077cd9002cb405f"/>
    <p:sldId xmlns:r="http://schemas.openxmlformats.org/officeDocument/2006/relationships" id="269" r:id="R271f909212df4b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e433f8506b4612" /><Relationship Type="http://schemas.openxmlformats.org/officeDocument/2006/relationships/slideMaster" Target="/ppt/slideMasters/slideMaster1.xml" Id="R6214cc911a4b4818" /><Relationship Type="http://schemas.openxmlformats.org/officeDocument/2006/relationships/notesMaster" Target="/ppt/notesMasters/notesMaster1.xml" Id="R2513c57c5a134b8c" /><Relationship Type="http://schemas.openxmlformats.org/officeDocument/2006/relationships/presProps" Target="/ppt/presProps.xml" Id="Rdfd88dd0ff354510" /><Relationship Type="http://schemas.openxmlformats.org/officeDocument/2006/relationships/tableStyles" Target="/ppt/tableStyles.xml" Id="Rdda8bf45f62b4ffb" /><Relationship Type="http://schemas.openxmlformats.org/officeDocument/2006/relationships/slide" Target="/ppt/slides/slide1.xml" Id="R48d3eecc4f1345b3" /><Relationship Type="http://schemas.openxmlformats.org/officeDocument/2006/relationships/slide" Target="/ppt/slides/slide2.xml" Id="R3a3c62b8994343dd" /><Relationship Type="http://schemas.openxmlformats.org/officeDocument/2006/relationships/slide" Target="/ppt/slides/slide3.xml" Id="R8992c4b8ea2f491e" /><Relationship Type="http://schemas.openxmlformats.org/officeDocument/2006/relationships/slide" Target="/ppt/slides/slide4.xml" Id="R429e54f54f144caf" /><Relationship Type="http://schemas.openxmlformats.org/officeDocument/2006/relationships/slide" Target="/ppt/slides/slide5.xml" Id="R8a86009d0ae44117" /><Relationship Type="http://schemas.openxmlformats.org/officeDocument/2006/relationships/slide" Target="/ppt/slides/slide6.xml" Id="R151f0114828f408c" /><Relationship Type="http://schemas.openxmlformats.org/officeDocument/2006/relationships/slide" Target="/ppt/slides/slide7.xml" Id="R1c30d72be49c4f92" /><Relationship Type="http://schemas.openxmlformats.org/officeDocument/2006/relationships/slide" Target="/ppt/slides/slide8.xml" Id="Ra69d6fe6166346eb" /><Relationship Type="http://schemas.openxmlformats.org/officeDocument/2006/relationships/slide" Target="/ppt/slides/slide9.xml" Id="Rb7b546fdb6ec436a" /><Relationship Type="http://schemas.openxmlformats.org/officeDocument/2006/relationships/slide" Target="/ppt/slides/slide10.xml" Id="R712b920890174cef" /><Relationship Type="http://schemas.openxmlformats.org/officeDocument/2006/relationships/slide" Target="/ppt/slides/slide11.xml" Id="R72e29000528a456c" /><Relationship Type="http://schemas.openxmlformats.org/officeDocument/2006/relationships/slide" Target="/ppt/slides/slide12.xml" Id="Rb307123a83d14764" /><Relationship Type="http://schemas.openxmlformats.org/officeDocument/2006/relationships/slide" Target="/ppt/slides/slide13.xml" Id="Ra077cd9002cb405f" /><Relationship Type="http://schemas.openxmlformats.org/officeDocument/2006/relationships/slide" Target="/ppt/slides/slide14.xml" Id="R271f909212df4b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20acf3003c49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411b5d026245e5" /><Relationship Type="http://schemas.openxmlformats.org/officeDocument/2006/relationships/notesMaster" Target="/ppt/notesMasters/notesMaster1.xml" Id="R4f25eb67aa984c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671c0da79c4069" /><Relationship Type="http://schemas.openxmlformats.org/officeDocument/2006/relationships/notesMaster" Target="/ppt/notesMasters/notesMaster1.xml" Id="R31b906ad11d84e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3b812dbed44106" /><Relationship Type="http://schemas.openxmlformats.org/officeDocument/2006/relationships/notesMaster" Target="/ppt/notesMasters/notesMaster1.xml" Id="R8178a8cbefb949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53db7a67954ba0" /><Relationship Type="http://schemas.openxmlformats.org/officeDocument/2006/relationships/notesMaster" Target="/ppt/notesMasters/notesMaster1.xml" Id="Rfe3525d94f8349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20dbac46a54ee6" /><Relationship Type="http://schemas.openxmlformats.org/officeDocument/2006/relationships/notesMaster" Target="/ppt/notesMasters/notesMaster1.xml" Id="Rd2ea70876ce746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d88e4fd11d4f8c" /><Relationship Type="http://schemas.openxmlformats.org/officeDocument/2006/relationships/notesMaster" Target="/ppt/notesMasters/notesMaster1.xml" Id="R403a671c0f1c46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d0d23ef4c846e6" /><Relationship Type="http://schemas.openxmlformats.org/officeDocument/2006/relationships/notesMaster" Target="/ppt/notesMasters/notesMaster1.xml" Id="Rcd5044e3e64c4e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c119fe3d2a4aad" /><Relationship Type="http://schemas.openxmlformats.org/officeDocument/2006/relationships/notesMaster" Target="/ppt/notesMasters/notesMaster1.xml" Id="R898a1b5ef57946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38f03e52cb4d66" /><Relationship Type="http://schemas.openxmlformats.org/officeDocument/2006/relationships/notesMaster" Target="/ppt/notesMasters/notesMaster1.xml" Id="R9984f36b27a84a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282484669e4885" /><Relationship Type="http://schemas.openxmlformats.org/officeDocument/2006/relationships/notesMaster" Target="/ppt/notesMasters/notesMaster1.xml" Id="R65ed132cc4214d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c963d3f9a54114" /><Relationship Type="http://schemas.openxmlformats.org/officeDocument/2006/relationships/notesMaster" Target="/ppt/notesMasters/notesMaster1.xml" Id="R20b95cc1451e45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9185740bc24989" /><Relationship Type="http://schemas.openxmlformats.org/officeDocument/2006/relationships/notesMaster" Target="/ppt/notesMasters/notesMaster1.xml" Id="Re6b9ade7ed414c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8a7c2f78e84b5f" /><Relationship Type="http://schemas.openxmlformats.org/officeDocument/2006/relationships/notesMaster" Target="/ppt/notesMasters/notesMaster1.xml" Id="Rdf5824ab3cf94d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704f23d38041ac" /><Relationship Type="http://schemas.openxmlformats.org/officeDocument/2006/relationships/notesMaster" Target="/ppt/notesMasters/notesMaster1.xml" Id="R63cabbe4d6c14f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约15分钟。本次先用现有一维卷材切割说明如何组合规格、满足订单，再介绍二维矩形布料排料及瑕疵避让的扩展方向。二维内容为方案说明，需要结合客户设备与样本验证，尚不代表当前产品已有该能力。封面为AI生成概念插图，不代表客户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维和二维的区别在于求解需要自由安排的尺寸。订单有长度字段，并不意味着已有二维排料。桌布、窗帘等成品若有缝边或缩水要求，应先换算成裁切尺寸，再送入求解。服装前片、袖片等不规则轮廓不属于本次矩形扩展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当前项目源码核对（2026-09-16）</a:t>
            </a:r>
          </a:p>
          <a:p xmlns:a="http://schemas.openxmlformats.org/drawingml/2006/main">
            <a:r>
              <a:t>D:/BigBase/Solartron-Cut/README.md</a:t>
            </a:r>
          </a:p>
          <a:p xmlns:a="http://schemas.openxmlformats.org/drawingml/2006/main">
            <a:r>
              <a:t>D:/BigBase/Solartron-Cut/src/main/java/test/demo/apsmodule/generator/NewSolver/CuttingSolver.java</a:t>
            </a:r>
          </a:p>
          <a:p xmlns:a="http://schemas.openxmlformats.org/drawingml/2006/main">
            <a:r>
              <a:t>D:/BigBase/Solartron-Cut/src/main/java/test/demo/apsmodule/generator/NewSolver/model/PatternCandidate.java</a:t>
            </a:r>
          </a:p>
          <a:p xmlns:a="http://schemas.openxmlformats.org/drawingml/2006/main">
            <a:r>
              <a:t>D:/BigBase/Solartron-Cut/src/main/java/test/demo/apsmodule/service/CuttingInstruction.java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按业务流程讲，不展开算法名词。系统把订单需求与可用卷宽转化为候选组合，再选择满足需求规则的组合。当前项目保留切割求解和APS接口相关后端能力，不将本页理解成已提供完整现场裁床控制系统。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当前项目源码核对（2026-09-16）</a:t>
            </a:r>
          </a:p>
          <a:p xmlns:a="http://schemas.openxmlformats.org/drawingml/2006/main">
            <a:r>
              <a:t>D:/BigBase/Solartron-Cut/README.md</a:t>
            </a:r>
          </a:p>
          <a:p xmlns:a="http://schemas.openxmlformats.org/drawingml/2006/main">
            <a:r>
              <a:t>D:/BigBase/Solartron-Cut/src/main/java/test/demo/apsmodule/generator/NewSolver/CuttingSolver.java</a:t>
            </a:r>
          </a:p>
          <a:p xmlns:a="http://schemas.openxmlformats.org/drawingml/2006/main">
            <a:r>
              <a:t>D:/BigBase/Solartron-Cut/src/main/java/test/demo/apsmodule/generator/NewSolver/model/PatternCandidate.java</a:t>
            </a:r>
          </a:p>
          <a:p xmlns:a="http://schemas.openxmlformats.org/drawingml/2006/main">
            <a:r>
              <a:t>D:/BigBase/Solartron-Cut/src/main/java/test/demo/apsmodule/service/CuttingInstruction.java</a:t>
            </a:r>
          </a:p>
          <a:p xmlns:a="http://schemas.openxmlformats.org/drawingml/2006/main">
            <a:r>
              <a:t>D:/BigBase/Solartron-Cut/src/main/java/test/demo/rest/dto/OptimizationRequest.java</a:t>
            </a:r>
          </a:p>
          <a:p xmlns:a="http://schemas.openxmlformats.org/drawingml/2006/main">
            <a:r>
              <a:t>D:/BigBase/Solartron-Cut/src/main/java/test/demo/apsmodule/service/SolverConfig.java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一种宽度组合称为一个切割模式。图中三种规格共占1500毫米，剩余100毫米作为废边。宽度利用率为1500除以1600，等于93.75%。这不是客户实测节料比例，也不能直接当成包含长度、端头和其他损耗的总材料利用率。图为AI生成教学示意，计算关系以本页文字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当前项目源码核对（2026-09-16）</a:t>
            </a:r>
          </a:p>
          <a:p xmlns:a="http://schemas.openxmlformats.org/drawingml/2006/main">
            <a:r>
              <a:t>D:/BigBase/Solartron-Cut/README.md</a:t>
            </a:r>
          </a:p>
          <a:p xmlns:a="http://schemas.openxmlformats.org/drawingml/2006/main">
            <a:r>
              <a:t>D:/BigBase/Solartron-Cut/src/main/java/test/demo/apsmodule/generator/NewSolver/CuttingSolver.java</a:t>
            </a:r>
          </a:p>
          <a:p xmlns:a="http://schemas.openxmlformats.org/drawingml/2006/main">
            <a:r>
              <a:t>D:/BigBase/Solartron-Cut/src/main/java/test/demo/apsmodule/generator/NewSolver/model/PatternCandidate.java</a:t>
            </a:r>
          </a:p>
          <a:p xmlns:a="http://schemas.openxmlformats.org/drawingml/2006/main">
            <a:r>
              <a:t>D:/BigBase/Solartron-Cut/src/main/java/test/demo/apsmodule/service/CuttingInstruction.java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例用于解释为什么不能每次只挑废边最少的组合。需求为三种规格各两件，P1重复两次可精确覆盖。P2虽然没有宽度废边，却没有产出500毫米规格。表格只是两个候选模式的对照，不代表完整候选池。本例按等长、单件计数简化，实际项目的车次、工位和数量换算以生产口径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当前项目源码核对（2026-09-16）</a:t>
            </a:r>
          </a:p>
          <a:p xmlns:a="http://schemas.openxmlformats.org/drawingml/2006/main">
            <a:r>
              <a:t>D:/BigBase/Solartron-Cut/README.md</a:t>
            </a:r>
          </a:p>
          <a:p xmlns:a="http://schemas.openxmlformats.org/drawingml/2006/main">
            <a:r>
              <a:t>D:/BigBase/Solartron-Cut/src/main/java/test/demo/apsmodule/generator/NewSolver/CuttingSolver.java</a:t>
            </a:r>
          </a:p>
          <a:p xmlns:a="http://schemas.openxmlformats.org/drawingml/2006/main">
            <a:r>
              <a:t>D:/BigBase/Solartron-Cut/src/main/java/test/demo/apsmodule/generator/NewSolver/model/PatternCandidate.java</a:t>
            </a:r>
          </a:p>
          <a:p xmlns:a="http://schemas.openxmlformats.org/drawingml/2006/main">
            <a:r>
              <a:t>D:/BigBase/Solartron-Cut/src/main/java/test/demo/apsmodule/service/CuttingInstruction.java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CuttingInstruction包含卷宽、长度、表面处理、厚度、宽度到工位数量的映射、使用车次数、订单工位分配及废边等信息。输入有超产上限和允许超产规则，不能承诺所有场景天然都是零超产。客户验收应核对实际数量和切割可执行性。当前能力陈述依据源码与接口，不替代本次客户现场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当前项目源码核对（2026-09-16）</a:t>
            </a:r>
          </a:p>
          <a:p xmlns:a="http://schemas.openxmlformats.org/drawingml/2006/main">
            <a:r>
              <a:t>D:/BigBase/Solartron-Cut/README.md</a:t>
            </a:r>
          </a:p>
          <a:p xmlns:a="http://schemas.openxmlformats.org/drawingml/2006/main">
            <a:r>
              <a:t>D:/BigBase/Solartron-Cut/src/main/java/test/demo/apsmodule/generator/NewSolver/CuttingSolver.java</a:t>
            </a:r>
          </a:p>
          <a:p xmlns:a="http://schemas.openxmlformats.org/drawingml/2006/main">
            <a:r>
              <a:t>D:/BigBase/Solartron-Cut/src/main/java/test/demo/apsmodule/generator/NewSolver/model/PatternCandidate.java</a:t>
            </a:r>
          </a:p>
          <a:p xmlns:a="http://schemas.openxmlformats.org/drawingml/2006/main">
            <a:r>
              <a:t>D:/BigBase/Solartron-Cut/src/main/java/test/demo/apsmodule/service/CuttingInstruction.java</a:t>
            </a:r>
          </a:p>
          <a:p xmlns:a="http://schemas.openxmlformats.org/drawingml/2006/main">
            <a:r>
              <a:t>D:/BigBase/Solartron-Cut/src/main/java/test/demo/apsmodule/service/SolverConfig.java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二维需要为每片布决定横向、纵向位置，以及是否允许旋转。本例两片A并排，两片B排在下一段，使用180厘米长的160厘米宽布料。四片裁片面积合计28800平方厘米，恰好等于示例布段面积。此为理想算例，不作实际利用率承诺。一般实例存在不同尺寸、边距与工艺限制，不能直接照搬此整齐布局。图为AI生成教学示意。矩形不重叠约束可用OR-Tools CP-SAT表达，边界与工艺规则需另外建模。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https://or-tools.github.io/docs/java/classcom_1_1google_1_1ortools_1_1sat_1_1CpModel.html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必须确认真实设备的切割方式。贯通切割要求每一刀从当前布块一边切到另一边。固定先分条再横切比一般多阶段贯通切割更严格，不能把两者混为同一种自由度。自由矩形排布可作为轮廓裁床方案的一部分，但自动生成设备刀路仍需控制系统接口、刀具与夹持等适配。切割线能否经过瑕疵，与成品裁片是否允许含瑕疵是不同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https://doi.org/10.1016/j.cie.2025.110866</a:t>
            </a:r>
          </a:p>
          <a:p xmlns:a="http://schemas.openxmlformats.org/drawingml/2006/main">
            <a:r>
              <a:t>https://doi.org/10.1016/j.cor.2023.106407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瑕疵当作布面上不可放置合格裁片的区域。小瑕疵不必自动导致整段废弃，可以按设备允许方式利用周围区域。第一版可以用矩形包围不规则瑕疵，算法简单但会保守地多避让一些区域。允许的瑕疵等级必须由客户质量规则明确，不能为了利用率降低品质要求。图中裁片不进入红色边界，实际实现还须校验设备切割约束。图为AI生成概念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https://doi.org/10.1016/j.cie.2025.110866</a:t>
            </a:r>
          </a:p>
          <a:p xmlns:a="http://schemas.openxmlformats.org/drawingml/2006/main">
            <a:r>
              <a:t>https://doi.org/10.1016/j.cor.2023.106407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瑕疵矩形左下或左前角定义为坐标起点，本例瑕疵横向60至68厘米、纵向350至362厘米，四周各扩展2厘米后得到58至70和348至364厘米，总宽12厘米、长16厘米。2厘米不是推荐工艺值，应由检测误差、布料变形与质量要求确定。只有面积没有坐标，无法保证裁片避开瑕疵。若布卷反向、翻面或裁床坐标不同，必须做正确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https://doi.org/10.1016/j.cie.2025.110866</a:t>
            </a:r>
          </a:p>
          <a:p xmlns:a="http://schemas.openxmlformats.org/drawingml/2006/main">
            <a:r>
              <a:t>https://doi.org/10.1016/j.cor.2023.106407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一维模式可按使用次数重复，但在带缺陷二维场景中，布局的可行性取决于具体布卷与位置。同图重复铺布必须逐段、逐层检查。在各层成品都必须无瑕疵时，可保守避让各层缺陷在裁床坐标中的并集。若并集使利用率过低，可以评估分组铺布或补片，但不能默许不合格产出。现场重排需要可信的执行进度和设备冻结边界，这属于扩展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https://doi.org/10.1016/j.cie.2025.110866</a:t>
            </a:r>
          </a:p>
          <a:p xmlns:a="http://schemas.openxmlformats.org/drawingml/2006/main">
            <a:r>
              <a:t>https://doi.org/10.1016/j.cor.2023.106407</a:t>
            </a:r>
          </a:p>
          <a:p xmlns:a="http://schemas.openxmlformats.org/drawingml/2006/main">
            <a:r>
              <a:t>现场处理流程为本次方案建议，需按设备与质量规则确认。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复用的是业务接入、任务管理以及模式选择的思路，不能把当前一维模型简单加长度就当成二维。小规模矩形验证可以直接求裁片坐标，批量重复铺布需要时再引入排料图的选择与使用次数。当前项目已存在整体求解内核接口，但二维输入输出契约仍需适配。本页不承诺代码原样复用比例或实施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当前项目源码核对（2026-09-16）</a:t>
            </a:r>
          </a:p>
          <a:p xmlns:a="http://schemas.openxmlformats.org/drawingml/2006/main">
            <a:r>
              <a:t>D:/BigBase/Solartron-Cut/README.md</a:t>
            </a:r>
          </a:p>
          <a:p xmlns:a="http://schemas.openxmlformats.org/drawingml/2006/main">
            <a:r>
              <a:t>D:/BigBase/Solartron-Cut/src/main/java/test/demo/apsmodule/generator/NewSolver/CuttingSolver.java</a:t>
            </a:r>
          </a:p>
          <a:p xmlns:a="http://schemas.openxmlformats.org/drawingml/2006/main">
            <a:r>
              <a:t>D:/BigBase/Solartron-Cut/src/main/java/test/demo/apsmodule/generator/NewSolver/model/PatternCandidate.java</a:t>
            </a:r>
          </a:p>
          <a:p xmlns:a="http://schemas.openxmlformats.org/drawingml/2006/main">
            <a:r>
              <a:t>D:/BigBase/Solartron-Cut/src/main/java/test/demo/apsmodule/service/CuttingInstruction.java</a:t>
            </a:r>
          </a:p>
          <a:p xmlns:a="http://schemas.openxmlformats.org/drawingml/2006/main">
            <a:r>
              <a:t>D:/BigBase/Solartron-Cut/src/main/java/test/demo/apsmodule/solver/kernel/CurrentNewSolverKernelAdapter.java</a:t>
            </a:r>
          </a:p>
          <a:p xmlns:a="http://schemas.openxmlformats.org/drawingml/2006/main">
            <a:r>
              <a:t>https://or-tools.github.io/docs/java/classcom_1_1google_1_1ortools_1_1sat_1_1CpModel.html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约定数据和验收口径，再评价优化效果。基准用布量应大于零。相同布幅可用长度对比，不同布幅、不同材料应统一面积或成本计量。应区分报废料和可重复使用余料，避免把全部余料都计为损失。必须同时检查需求数量、是否覆盖瑕疵及设备能否切出。算例不等于性能测试，目前不提供未经客户样本验证的节料比例或求解时长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一页引导客户交流。请客户说明实际产品是否确实为矩形裁片，是否已经有验布记录，以及切割设备的工作方式。建议先选取代表性订单做离线试排并现场确认，再决定是否接入验布和裁床。若客户询问二维目前能否直接上线，应明确这是基于现有一维方案提出的扩展方向，需要完成模型、数据及工艺适配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285963fddb4f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1989be42a44d6e" /><Relationship Type="http://schemas.openxmlformats.org/officeDocument/2006/relationships/slideLayout" Target="/ppt/slideLayouts/slideLayout1.xml" Id="R63e37507fb3240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e37507fb3240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4604f2e0a4201" /><Relationship Type="http://schemas.openxmlformats.org/officeDocument/2006/relationships/image" Target="/ppt/media/image.png" Id="R097ef91d19c0426d" /><Relationship Type="http://schemas.openxmlformats.org/officeDocument/2006/relationships/notesSlide" Target="/ppt/notesSlides/notesSlide1.xml" Id="Rccc2c21c47e444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2ef61bd444c44" /><Relationship Type="http://schemas.openxmlformats.org/officeDocument/2006/relationships/notesSlide" Target="/ppt/notesSlides/notesSlide2.xml" Id="R593da1e2fff549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3f87711814b23" /><Relationship Type="http://schemas.openxmlformats.org/officeDocument/2006/relationships/notesSlide" Target="/ppt/notesSlides/notesSlide3.xml" Id="R330c6567fd5941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e837526cf411d" /><Relationship Type="http://schemas.openxmlformats.org/officeDocument/2006/relationships/image" Target="/ppt/media/image2.png" Id="R52757375c132472e" /><Relationship Type="http://schemas.openxmlformats.org/officeDocument/2006/relationships/notesSlide" Target="/ppt/notesSlides/notesSlide4.xml" Id="R869516d20ff44d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3f7d878b24042" /><Relationship Type="http://schemas.openxmlformats.org/officeDocument/2006/relationships/notesSlide" Target="/ppt/notesSlides/notesSlide5.xml" Id="R6d5a90ecf8384a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bc8bbf4f04d80" /><Relationship Type="http://schemas.openxmlformats.org/officeDocument/2006/relationships/notesSlide" Target="/ppt/notesSlides/notesSlide6.xml" Id="Rae630f4032074b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97cea983341da" /><Relationship Type="http://schemas.openxmlformats.org/officeDocument/2006/relationships/image" Target="/ppt/media/image3.png" Id="R6a3ee2624f624f9c" /><Relationship Type="http://schemas.openxmlformats.org/officeDocument/2006/relationships/notesSlide" Target="/ppt/notesSlides/notesSlide7.xml" Id="R73e5a0c3c0f948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99f7b9f654ba7" /><Relationship Type="http://schemas.openxmlformats.org/officeDocument/2006/relationships/notesSlide" Target="/ppt/notesSlides/notesSlide8.xml" Id="R059419addda649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eaf5cdf1a41d8" /><Relationship Type="http://schemas.openxmlformats.org/officeDocument/2006/relationships/image" Target="/ppt/media/image4.png" Id="R1e64c718eef84b68" /><Relationship Type="http://schemas.openxmlformats.org/officeDocument/2006/relationships/notesSlide" Target="/ppt/notesSlides/notesSlide9.xml" Id="R29beeb7829674a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9374919824ea8" /><Relationship Type="http://schemas.openxmlformats.org/officeDocument/2006/relationships/notesSlide" Target="/ppt/notesSlides/notesSlide10.xml" Id="R551848169efa42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f1d559aa74785" /><Relationship Type="http://schemas.openxmlformats.org/officeDocument/2006/relationships/notesSlide" Target="/ppt/notesSlides/notesSlide11.xml" Id="R28bfdb759a934c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0c04e01f34bd5" /><Relationship Type="http://schemas.openxmlformats.org/officeDocument/2006/relationships/notesSlide" Target="/ppt/notesSlides/notesSlide12.xml" Id="Rb451fed88de94d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71317bec046ca" /><Relationship Type="http://schemas.openxmlformats.org/officeDocument/2006/relationships/notesSlide" Target="/ppt/notesSlides/notesSlide13.xml" Id="Rd1b64002fd6b4e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db73e25ad4ebb" /><Relationship Type="http://schemas.openxmlformats.org/officeDocument/2006/relationships/notesSlide" Target="/ppt/notesSlides/notesSlide14.xml" Id="R77a9b570741f4a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ef91d19c0426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tb3ghn-64-155">
            <a:extLst xmlns:a="http://schemas.openxmlformats.org/drawingml/2006/main">
              <a:ext uri="{FF2B5EF4-FFF2-40B4-BE49-F238E27FC236}">
                <a16:creationId xmlns:a16="http://schemas.microsoft.com/office/drawing/2014/main" id="{FDD7D6B7-C673-4FA9-9919-2D6D5866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47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切割优化方案</a:t>
            </a:r>
          </a:p>
        </p:txBody>
      </p:sp>
      <p:sp>
        <p:nvSpPr>
          <p:cNvPr id="3" name="text-tb3ghn-68-275">
            <a:extLst xmlns:a="http://schemas.openxmlformats.org/drawingml/2006/main">
              <a:ext uri="{FF2B5EF4-FFF2-40B4-BE49-F238E27FC236}">
                <a16:creationId xmlns:a16="http://schemas.microsoft.com/office/drawing/2014/main" id="{AF3A1200-B141-47C3-8105-63EBE75C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600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现有一维切割</a:t>
            </a:r>
          </a:p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与二维布料排料应用</a:t>
            </a:r>
          </a:p>
        </p:txBody>
      </p:sp>
      <p:sp>
        <p:nvSpPr>
          <p:cNvPr id="4" name="text-tb3ghn-70-560">
            <a:extLst xmlns:a="http://schemas.openxmlformats.org/drawingml/2006/main">
              <a:ext uri="{FF2B5EF4-FFF2-40B4-BE49-F238E27FC236}">
                <a16:creationId xmlns:a16="http://schemas.microsoft.com/office/drawing/2014/main" id="{B4D3B91E-11F9-4157-9917-F1DDACED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8DC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8DCE5"/>
                </a:solidFill>
                <a:latin typeface="Microsoft YaHei"/>
                <a:ea typeface="Microsoft YaHei"/>
                <a:cs typeface="Microsoft YaHei"/>
              </a:rPr>
              <a:t>客户交流材料</a:t>
            </a:r>
          </a:p>
        </p:txBody>
      </p:sp>
      <p:sp>
        <p:nvSpPr>
          <p:cNvPr id="5" name="text-tb3ghn-70-612">
            <a:extLst xmlns:a="http://schemas.openxmlformats.org/drawingml/2006/main">
              <a:ext uri="{FF2B5EF4-FFF2-40B4-BE49-F238E27FC236}">
                <a16:creationId xmlns:a16="http://schemas.microsoft.com/office/drawing/2014/main" id="{29CF7F7C-6345-4552-8447-2D8B4783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8DC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CE5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522230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aygh9r-64-50">
            <a:extLst xmlns:a="http://schemas.openxmlformats.org/drawingml/2006/main">
              <a:ext uri="{FF2B5EF4-FFF2-40B4-BE49-F238E27FC236}">
                <a16:creationId xmlns:a16="http://schemas.microsoft.com/office/drawing/2014/main" id="{46A0BE9E-902A-4A5E-AB67-0CE855F0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一维与二维的应用区别</a:t>
            </a:r>
          </a:p>
        </p:txBody>
      </p:sp>
      <p:sp>
        <p:nvSpPr>
          <p:cNvPr id="2" name="text-aygh9r-1174-665">
            <a:extLst xmlns:a="http://schemas.openxmlformats.org/drawingml/2006/main">
              <a:ext uri="{FF2B5EF4-FFF2-40B4-BE49-F238E27FC236}">
                <a16:creationId xmlns:a16="http://schemas.microsoft.com/office/drawing/2014/main" id="{B9B18D2A-F377-4102-9F1A-C7B9FB66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238625"/>
                <a:gridCol w="4829175"/>
              </a:tblGrid>
              <a:tr h="693420"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一维卷材切割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二维矩形布料排料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</a:tr>
              <a:tr h="693420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典型对象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宽卷分切为不同宽度的窄卷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桌布、帘布等矩形裁片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求解内容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宽度组合及各组合使用次数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裁片位置、方向与使用布长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</a:tr>
              <a:tr h="693420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卷宽、需求数量及生产规则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布幅、不重叠、方向及瑕疵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方案状态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当前项目已有一维求解能力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本次介绍的扩展方向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4" name="text-aygh9r-66-625">
            <a:extLst xmlns:a="http://schemas.openxmlformats.org/drawingml/2006/main">
              <a:ext uri="{FF2B5EF4-FFF2-40B4-BE49-F238E27FC236}">
                <a16:creationId xmlns:a16="http://schemas.microsoft.com/office/drawing/2014/main" id="{6F4B0CBF-45BF-446B-8111-FB2B174F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布料分切成连续窄条也可归入一维场景。二维方案以矩形裁片为范围。</a:t>
            </a:r>
          </a:p>
        </p:txBody>
      </p:sp>
    </p:spTree>
    <p:extLst>
      <p:ext uri="{BB962C8B-B14F-4D97-AF65-F5344CB8AC3E}">
        <p14:creationId xmlns:p14="http://schemas.microsoft.com/office/powerpoint/2010/main" val="1913180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cs9uth-64-50">
            <a:extLst xmlns:a="http://schemas.openxmlformats.org/drawingml/2006/main">
              <a:ext uri="{FF2B5EF4-FFF2-40B4-BE49-F238E27FC236}">
                <a16:creationId xmlns:a16="http://schemas.microsoft.com/office/drawing/2014/main" id="{CE36A3FA-FD8F-412C-BA91-E916AF06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当前一维切割的工作过程</a:t>
            </a:r>
          </a:p>
        </p:txBody>
      </p:sp>
      <p:sp>
        <p:nvSpPr>
          <p:cNvPr id="2" name="text-cs9uth-66-130">
            <a:extLst xmlns:a="http://schemas.openxmlformats.org/drawingml/2006/main">
              <a:ext uri="{FF2B5EF4-FFF2-40B4-BE49-F238E27FC236}">
                <a16:creationId xmlns:a16="http://schemas.microsoft.com/office/drawing/2014/main" id="{E18BA7CF-0B9A-44BD-86F0-A16B1B97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现有方案</a:t>
            </a:r>
          </a:p>
        </p:txBody>
      </p:sp>
      <p:sp>
        <p:nvSpPr>
          <p:cNvPr id="3" name="text-cs9uth-1174-665">
            <a:extLst xmlns:a="http://schemas.openxmlformats.org/drawingml/2006/main">
              <a:ext uri="{FF2B5EF4-FFF2-40B4-BE49-F238E27FC236}">
                <a16:creationId xmlns:a16="http://schemas.microsoft.com/office/drawing/2014/main" id="{494F861F-2A0E-4F36-BEA2-F6678A8C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-cs9uth-68-188">
            <a:extLst xmlns:a="http://schemas.openxmlformats.org/drawingml/2006/main">
              <a:ext uri="{FF2B5EF4-FFF2-40B4-BE49-F238E27FC236}">
                <a16:creationId xmlns:a16="http://schemas.microsoft.com/office/drawing/2014/main" id="{0A9A95A2-477A-400B-97AB-6D474896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cs9uth-160-192">
            <a:extLst xmlns:a="http://schemas.openxmlformats.org/drawingml/2006/main">
              <a:ext uri="{FF2B5EF4-FFF2-40B4-BE49-F238E27FC236}">
                <a16:creationId xmlns:a16="http://schemas.microsoft.com/office/drawing/2014/main" id="{E98A2551-FBF6-4A42-87FC-EE3CF3A5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2880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输入订单</a:t>
            </a:r>
          </a:p>
        </p:txBody>
      </p:sp>
      <p:sp>
        <p:nvSpPr>
          <p:cNvPr id="6" name="text-cs9uth-445-196">
            <a:extLst xmlns:a="http://schemas.openxmlformats.org/drawingml/2006/main">
              <a:ext uri="{FF2B5EF4-FFF2-40B4-BE49-F238E27FC236}">
                <a16:creationId xmlns:a16="http://schemas.microsoft.com/office/drawing/2014/main" id="{1B621C8A-245D-407D-9938-007AF472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66900"/>
            <a:ext cx="709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规格宽度、需求数量、长度及分组信息</a:t>
            </a:r>
          </a:p>
        </p:txBody>
      </p:sp>
      <p:sp>
        <p:nvSpPr>
          <p:cNvPr id="7" name="text-cs9uth-68-286">
            <a:extLst xmlns:a="http://schemas.openxmlformats.org/drawingml/2006/main">
              <a:ext uri="{FF2B5EF4-FFF2-40B4-BE49-F238E27FC236}">
                <a16:creationId xmlns:a16="http://schemas.microsoft.com/office/drawing/2014/main" id="{F893176C-E4D6-44B1-9633-7112C3DC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cs9uth-160-290">
            <a:extLst xmlns:a="http://schemas.openxmlformats.org/drawingml/2006/main">
              <a:ext uri="{FF2B5EF4-FFF2-40B4-BE49-F238E27FC236}">
                <a16:creationId xmlns:a16="http://schemas.microsoft.com/office/drawing/2014/main" id="{9D5C9BC9-CC37-4156-9BDE-29BC6234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设置生产条件</a:t>
            </a:r>
          </a:p>
        </p:txBody>
      </p:sp>
      <p:sp>
        <p:nvSpPr>
          <p:cNvPr id="9" name="text-cs9uth-445-294">
            <a:extLst xmlns:a="http://schemas.openxmlformats.org/drawingml/2006/main">
              <a:ext uri="{FF2B5EF4-FFF2-40B4-BE49-F238E27FC236}">
                <a16:creationId xmlns:a16="http://schemas.microsoft.com/office/drawing/2014/main" id="{07991A5F-DDC1-40EC-B6E8-6EC50861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709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固定卷宽，或允许选择的宽度范围</a:t>
            </a:r>
          </a:p>
        </p:txBody>
      </p:sp>
      <p:sp>
        <p:nvSpPr>
          <p:cNvPr id="10" name="text-cs9uth-68-384">
            <a:extLst xmlns:a="http://schemas.openxmlformats.org/drawingml/2006/main">
              <a:ext uri="{FF2B5EF4-FFF2-40B4-BE49-F238E27FC236}">
                <a16:creationId xmlns:a16="http://schemas.microsoft.com/office/drawing/2014/main" id="{666D185A-82F0-45F4-A246-C1E070CA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cs9uth-160-388">
            <a:extLst xmlns:a="http://schemas.openxmlformats.org/drawingml/2006/main">
              <a:ext uri="{FF2B5EF4-FFF2-40B4-BE49-F238E27FC236}">
                <a16:creationId xmlns:a16="http://schemas.microsoft.com/office/drawing/2014/main" id="{9B708639-91C7-4740-A240-1C38AE8E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9570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组合与求解</a:t>
            </a:r>
          </a:p>
        </p:txBody>
      </p:sp>
      <p:sp>
        <p:nvSpPr>
          <p:cNvPr id="12" name="text-cs9uth-445-392">
            <a:extLst xmlns:a="http://schemas.openxmlformats.org/drawingml/2006/main">
              <a:ext uri="{FF2B5EF4-FFF2-40B4-BE49-F238E27FC236}">
                <a16:creationId xmlns:a16="http://schemas.microsoft.com/office/drawing/2014/main" id="{5E12993A-068A-4F87-9A63-E3E16AB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33800"/>
            <a:ext cx="709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生成宽度组合，选择组合及使用次数</a:t>
            </a:r>
          </a:p>
        </p:txBody>
      </p:sp>
      <p:sp>
        <p:nvSpPr>
          <p:cNvPr id="13" name="text-cs9uth-68-482">
            <a:extLst xmlns:a="http://schemas.openxmlformats.org/drawingml/2006/main">
              <a:ext uri="{FF2B5EF4-FFF2-40B4-BE49-F238E27FC236}">
                <a16:creationId xmlns:a16="http://schemas.microsoft.com/office/drawing/2014/main" id="{4028C1F6-D32A-49BE-8AB8-4083FC04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cs9uth-160-486">
            <a:extLst xmlns:a="http://schemas.openxmlformats.org/drawingml/2006/main">
              <a:ext uri="{FF2B5EF4-FFF2-40B4-BE49-F238E27FC236}">
                <a16:creationId xmlns:a16="http://schemas.microsoft.com/office/drawing/2014/main" id="{7E3A2DDE-6C3A-4ACF-BD9E-E780EE6B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247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输出切割安排</a:t>
            </a:r>
          </a:p>
        </p:txBody>
      </p:sp>
      <p:sp>
        <p:nvSpPr>
          <p:cNvPr id="15" name="text-cs9uth-445-490">
            <a:extLst xmlns:a="http://schemas.openxmlformats.org/drawingml/2006/main">
              <a:ext uri="{FF2B5EF4-FFF2-40B4-BE49-F238E27FC236}">
                <a16:creationId xmlns:a16="http://schemas.microsoft.com/office/drawing/2014/main" id="{85CA58B1-EB8F-4562-90DC-CF5C1397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67250"/>
            <a:ext cx="709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组合宽度、废边、使用次数及订单分配</a:t>
            </a:r>
          </a:p>
        </p:txBody>
      </p:sp>
    </p:spTree>
    <p:extLst>
      <p:ext uri="{BB962C8B-B14F-4D97-AF65-F5344CB8AC3E}">
        <p14:creationId xmlns:p14="http://schemas.microsoft.com/office/powerpoint/2010/main" val="735862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dk54nt-64-50">
            <a:extLst xmlns:a="http://schemas.openxmlformats.org/drawingml/2006/main">
              <a:ext uri="{FF2B5EF4-FFF2-40B4-BE49-F238E27FC236}">
                <a16:creationId xmlns:a16="http://schemas.microsoft.com/office/drawing/2014/main" id="{20B38CE8-FA02-4EF0-9DAB-C23444A6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一维示例：一张宽度组合</a:t>
            </a:r>
          </a:p>
        </p:txBody>
      </p:sp>
      <p:sp>
        <p:nvSpPr>
          <p:cNvPr id="2" name="text-dk54nt-66-130">
            <a:extLst xmlns:a="http://schemas.openxmlformats.org/drawingml/2006/main">
              <a:ext uri="{FF2B5EF4-FFF2-40B4-BE49-F238E27FC236}">
                <a16:creationId xmlns:a16="http://schemas.microsoft.com/office/drawing/2014/main" id="{C7418AE5-CC29-4170-9D3E-AFE43E17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教学算例</a:t>
            </a:r>
          </a:p>
        </p:txBody>
      </p:sp>
      <p:sp>
        <p:nvSpPr>
          <p:cNvPr id="3" name="text-dk54nt-1174-665">
            <a:extLst xmlns:a="http://schemas.openxmlformats.org/drawingml/2006/main">
              <a:ext uri="{FF2B5EF4-FFF2-40B4-BE49-F238E27FC236}">
                <a16:creationId xmlns:a16="http://schemas.microsoft.com/office/drawing/2014/main" id="{164DBAD3-F6A3-453A-A26A-C0DA7020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57375c132472e"/>
          <a:stretch xmlns:a="http://schemas.openxmlformats.org/drawingml/2006/main"/>
        </p:blipFill>
        <p:spPr>
          <a:xfrm xmlns:a="http://schemas.openxmlformats.org/drawingml/2006/main">
            <a:off x="1223963" y="1828800"/>
            <a:ext cx="5572125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text-dk54nt-842-202">
            <a:extLst xmlns:a="http://schemas.openxmlformats.org/drawingml/2006/main">
              <a:ext uri="{FF2B5EF4-FFF2-40B4-BE49-F238E27FC236}">
                <a16:creationId xmlns:a16="http://schemas.microsoft.com/office/drawing/2014/main" id="{632A1621-40E4-454F-AC72-6A19BD75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1600 mm</a:t>
            </a:r>
          </a:p>
        </p:txBody>
      </p:sp>
      <p:sp>
        <p:nvSpPr>
          <p:cNvPr id="6" name="text-dk54nt-844-271">
            <a:extLst xmlns:a="http://schemas.openxmlformats.org/drawingml/2006/main">
              <a:ext uri="{FF2B5EF4-FFF2-40B4-BE49-F238E27FC236}">
                <a16:creationId xmlns:a16="http://schemas.microsoft.com/office/drawing/2014/main" id="{8EEDDDBF-1769-432F-BD03-E7C9EA3F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81275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原材料总宽度</a:t>
            </a:r>
          </a:p>
        </p:txBody>
      </p:sp>
      <p:sp>
        <p:nvSpPr>
          <p:cNvPr id="7" name="text-dk54nt-844-340">
            <a:extLst xmlns:a="http://schemas.openxmlformats.org/drawingml/2006/main">
              <a:ext uri="{FF2B5EF4-FFF2-40B4-BE49-F238E27FC236}">
                <a16:creationId xmlns:a16="http://schemas.microsoft.com/office/drawing/2014/main" id="{44289BBA-26DE-4B6D-A0EB-DE2BC0D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0"/>
            <a:ext cx="34004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600 + 500 + 400</a:t>
            </a:r>
          </a:p>
          <a:p xmlns:a="http://schemas.openxmlformats.org/drawingml/2006/main">
            <a:pPr>
              <a:defRPr sz="23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= 1500 mm</a:t>
            </a:r>
          </a:p>
        </p:txBody>
      </p:sp>
      <p:sp>
        <p:nvSpPr>
          <p:cNvPr id="8" name="text-dk54nt-844-466">
            <a:extLst xmlns:a="http://schemas.openxmlformats.org/drawingml/2006/main">
              <a:ext uri="{FF2B5EF4-FFF2-40B4-BE49-F238E27FC236}">
                <a16:creationId xmlns:a16="http://schemas.microsoft.com/office/drawing/2014/main" id="{D5756900-FCD7-40DF-BC30-749AEC3A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386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废边 100 mm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宽度利用率 93.75%</a:t>
            </a:r>
          </a:p>
        </p:txBody>
      </p:sp>
      <p:sp>
        <p:nvSpPr>
          <p:cNvPr id="9" name="text-dk54nt-66-625">
            <a:extLst xmlns:a="http://schemas.openxmlformats.org/drawingml/2006/main">
              <a:ext uri="{FF2B5EF4-FFF2-40B4-BE49-F238E27FC236}">
                <a16:creationId xmlns:a16="http://schemas.microsoft.com/office/drawing/2014/main" id="{F3CFAEA7-596F-4461-BE73-3538DA82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示例假设：同一兼容分组、统一长度，不计刀缝及额外修边。数字为教学算例。</a:t>
            </a:r>
          </a:p>
        </p:txBody>
      </p:sp>
    </p:spTree>
    <p:extLst>
      <p:ext uri="{BB962C8B-B14F-4D97-AF65-F5344CB8AC3E}">
        <p14:creationId xmlns:p14="http://schemas.microsoft.com/office/powerpoint/2010/main" val="1709157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cuwjm8-64-50">
            <a:extLst xmlns:a="http://schemas.openxmlformats.org/drawingml/2006/main">
              <a:ext uri="{FF2B5EF4-FFF2-40B4-BE49-F238E27FC236}">
                <a16:creationId xmlns:a16="http://schemas.microsoft.com/office/drawing/2014/main" id="{B579EE4E-3515-4386-9C2D-66B5731F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组合选择需要同时满足订单</a:t>
            </a:r>
          </a:p>
        </p:txBody>
      </p:sp>
      <p:sp>
        <p:nvSpPr>
          <p:cNvPr id="2" name="text-cuwjm8-66-130">
            <a:extLst xmlns:a="http://schemas.openxmlformats.org/drawingml/2006/main">
              <a:ext uri="{FF2B5EF4-FFF2-40B4-BE49-F238E27FC236}">
                <a16:creationId xmlns:a16="http://schemas.microsoft.com/office/drawing/2014/main" id="{A24C5282-3B18-4EEB-9EAD-F8CE21EB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教学算例</a:t>
            </a:r>
          </a:p>
        </p:txBody>
      </p:sp>
      <p:sp>
        <p:nvSpPr>
          <p:cNvPr id="3" name="text-cuwjm8-1174-665">
            <a:extLst xmlns:a="http://schemas.openxmlformats.org/drawingml/2006/main">
              <a:ext uri="{FF2B5EF4-FFF2-40B4-BE49-F238E27FC236}">
                <a16:creationId xmlns:a16="http://schemas.microsoft.com/office/drawing/2014/main" id="{FE46A6DC-E48D-454D-8C97-42159896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-cuwjm8-66-184">
            <a:extLst xmlns:a="http://schemas.openxmlformats.org/drawingml/2006/main">
              <a:ext uri="{FF2B5EF4-FFF2-40B4-BE49-F238E27FC236}">
                <a16:creationId xmlns:a16="http://schemas.microsoft.com/office/drawing/2014/main" id="{48663F48-7B59-45C9-834F-1F675ADD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1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需求：600、500、400 mm 三种规格各 2 件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524125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57700"/>
                <a:gridCol w="1524000"/>
                <a:gridCol w="1524000"/>
                <a:gridCol w="1524000"/>
                <a:gridCol w="1943100"/>
              </a:tblGrid>
              <a:tr h="666750"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候选组合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 mm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 mm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 mm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每次废边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</a:tr>
              <a:tr h="666750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P1：600 + 500 + 400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mm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P2：600 + 600 + 400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mm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</a:tr>
            </a:tbl>
          </a:graphicData>
        </a:graphic>
      </p:graphicFrame>
      <p:sp>
        <p:nvSpPr>
          <p:cNvPr id="6" name="text-cuwjm8-68-518">
            <a:extLst xmlns:a="http://schemas.openxmlformats.org/drawingml/2006/main">
              <a:ext uri="{FF2B5EF4-FFF2-40B4-BE49-F238E27FC236}">
                <a16:creationId xmlns:a16="http://schemas.microsoft.com/office/drawing/2014/main" id="{FBA9FE58-6BF2-4314-AA35-EA7B0F48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P1 使用 2 次，可满足本例全部需求</a:t>
            </a:r>
          </a:p>
        </p:txBody>
      </p:sp>
      <p:sp>
        <p:nvSpPr>
          <p:cNvPr id="7" name="text-cuwjm8-66-625">
            <a:extLst xmlns:a="http://schemas.openxmlformats.org/drawingml/2006/main">
              <a:ext uri="{FF2B5EF4-FFF2-40B4-BE49-F238E27FC236}">
                <a16:creationId xmlns:a16="http://schemas.microsoft.com/office/drawing/2014/main" id="{E2C9E34A-C477-4E77-9B89-B820B175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P2 虽然单次废边为零，但不能单独满足 500 mm 的需求。</a:t>
            </a:r>
          </a:p>
        </p:txBody>
      </p:sp>
    </p:spTree>
    <p:extLst>
      <p:ext uri="{BB962C8B-B14F-4D97-AF65-F5344CB8AC3E}">
        <p14:creationId xmlns:p14="http://schemas.microsoft.com/office/powerpoint/2010/main" val="6762718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ncms8-64-50">
            <a:extLst xmlns:a="http://schemas.openxmlformats.org/drawingml/2006/main">
              <a:ext uri="{FF2B5EF4-FFF2-40B4-BE49-F238E27FC236}">
                <a16:creationId xmlns:a16="http://schemas.microsoft.com/office/drawing/2014/main" id="{C0F8D26F-AC11-457A-877E-50E910A8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现有一维方案的交付内容</a:t>
            </a:r>
          </a:p>
        </p:txBody>
      </p:sp>
      <p:sp>
        <p:nvSpPr>
          <p:cNvPr id="2" name="text-4ncms8-66-130">
            <a:extLst xmlns:a="http://schemas.openxmlformats.org/drawingml/2006/main">
              <a:ext uri="{FF2B5EF4-FFF2-40B4-BE49-F238E27FC236}">
                <a16:creationId xmlns:a16="http://schemas.microsoft.com/office/drawing/2014/main" id="{D8D54569-8075-40AF-857E-8D99287D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现有方案</a:t>
            </a:r>
          </a:p>
        </p:txBody>
      </p:sp>
      <p:sp>
        <p:nvSpPr>
          <p:cNvPr id="3" name="text-4ncms8-1174-665">
            <a:extLst xmlns:a="http://schemas.openxmlformats.org/drawingml/2006/main">
              <a:ext uri="{FF2B5EF4-FFF2-40B4-BE49-F238E27FC236}">
                <a16:creationId xmlns:a16="http://schemas.microsoft.com/office/drawing/2014/main" id="{B689EC68-C8DD-4210-943F-7A04BE94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-4ncms8-70-196">
            <a:extLst xmlns:a="http://schemas.openxmlformats.org/drawingml/2006/main">
              <a:ext uri="{FF2B5EF4-FFF2-40B4-BE49-F238E27FC236}">
                <a16:creationId xmlns:a16="http://schemas.microsoft.com/office/drawing/2014/main" id="{B439352E-AEF6-4F17-93B1-12E259D9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生产条件</a:t>
            </a:r>
          </a:p>
        </p:txBody>
      </p:sp>
      <p:sp>
        <p:nvSpPr>
          <p:cNvPr id="5" name="text-4ncms8-70-248">
            <a:extLst xmlns:a="http://schemas.openxmlformats.org/drawingml/2006/main">
              <a:ext uri="{FF2B5EF4-FFF2-40B4-BE49-F238E27FC236}">
                <a16:creationId xmlns:a16="http://schemas.microsoft.com/office/drawing/2014/main" id="{32E2E29C-7A8B-48D2-9A76-7B32A9B3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订单规格与分组条件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固定或可选卷宽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按规则控制允许超产</a:t>
            </a:r>
          </a:p>
        </p:txBody>
      </p:sp>
      <p:sp>
        <p:nvSpPr>
          <p:cNvPr id="6" name="text-4ncms8-690-196">
            <a:extLst xmlns:a="http://schemas.openxmlformats.org/drawingml/2006/main">
              <a:ext uri="{FF2B5EF4-FFF2-40B4-BE49-F238E27FC236}">
                <a16:creationId xmlns:a16="http://schemas.microsoft.com/office/drawing/2014/main" id="{AF710D1B-F7AA-4E2A-8E39-2DC8F049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切割安排</a:t>
            </a:r>
          </a:p>
        </p:txBody>
      </p:sp>
      <p:sp>
        <p:nvSpPr>
          <p:cNvPr id="7" name="text-4ncms8-690-248">
            <a:extLst xmlns:a="http://schemas.openxmlformats.org/drawingml/2006/main">
              <a:ext uri="{FF2B5EF4-FFF2-40B4-BE49-F238E27FC236}">
                <a16:creationId xmlns:a16="http://schemas.microsoft.com/office/drawing/2014/main" id="{3E37B870-47BA-43D5-876E-852A51D0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各宽度的分切数量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每种组合的使用次数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工位及订单分配信息</a:t>
            </a:r>
          </a:p>
        </p:txBody>
      </p:sp>
      <p:sp>
        <p:nvSpPr>
          <p:cNvPr id="8" name="text-4ncms8-70-443">
            <a:extLst xmlns:a="http://schemas.openxmlformats.org/drawingml/2006/main">
              <a:ext uri="{FF2B5EF4-FFF2-40B4-BE49-F238E27FC236}">
                <a16:creationId xmlns:a16="http://schemas.microsoft.com/office/drawing/2014/main" id="{4D7B3E39-4027-4A3D-BC2A-9FD3C797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结果可核对</a:t>
            </a:r>
          </a:p>
        </p:txBody>
      </p:sp>
      <p:sp>
        <p:nvSpPr>
          <p:cNvPr id="9" name="text-4ncms8-70-501">
            <a:extLst xmlns:a="http://schemas.openxmlformats.org/drawingml/2006/main">
              <a:ext uri="{FF2B5EF4-FFF2-40B4-BE49-F238E27FC236}">
                <a16:creationId xmlns:a16="http://schemas.microsoft.com/office/drawing/2014/main" id="{DCB3FF8A-8342-4151-9F19-714A17B2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需求覆盖、组合宽度和废边均有明确计算依据</a:t>
            </a:r>
          </a:p>
        </p:txBody>
      </p:sp>
      <p:sp>
        <p:nvSpPr>
          <p:cNvPr id="10" name="text-4ncms8-66-625">
            <a:extLst xmlns:a="http://schemas.openxmlformats.org/drawingml/2006/main">
              <a:ext uri="{FF2B5EF4-FFF2-40B4-BE49-F238E27FC236}">
                <a16:creationId xmlns:a16="http://schemas.microsoft.com/office/drawing/2014/main" id="{D6A727BB-F894-4C6A-BF67-165EABC7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实际效果需结合客户订单、生产规则及现场执行验证，不预设节料比例。</a:t>
            </a:r>
          </a:p>
        </p:txBody>
      </p:sp>
    </p:spTree>
    <p:extLst>
      <p:ext uri="{BB962C8B-B14F-4D97-AF65-F5344CB8AC3E}">
        <p14:creationId xmlns:p14="http://schemas.microsoft.com/office/powerpoint/2010/main" val="520892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upvivq-64-50">
            <a:extLst xmlns:a="http://schemas.openxmlformats.org/drawingml/2006/main">
              <a:ext uri="{FF2B5EF4-FFF2-40B4-BE49-F238E27FC236}">
                <a16:creationId xmlns:a16="http://schemas.microsoft.com/office/drawing/2014/main" id="{DF26EFE7-718A-40E5-9C3B-149E250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二维应用：不同长宽的矩形布片</a:t>
            </a:r>
          </a:p>
        </p:txBody>
      </p:sp>
      <p:sp>
        <p:nvSpPr>
          <p:cNvPr id="2" name="text-upvivq-66-130">
            <a:extLst xmlns:a="http://schemas.openxmlformats.org/drawingml/2006/main">
              <a:ext uri="{FF2B5EF4-FFF2-40B4-BE49-F238E27FC236}">
                <a16:creationId xmlns:a16="http://schemas.microsoft.com/office/drawing/2014/main" id="{C2BB002F-477A-4824-AD9D-E23D39DF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扩展方案 · 教学算例</a:t>
            </a:r>
          </a:p>
        </p:txBody>
      </p:sp>
      <p:sp>
        <p:nvSpPr>
          <p:cNvPr id="3" name="text-upvivq-1174-665">
            <a:extLst xmlns:a="http://schemas.openxmlformats.org/drawingml/2006/main">
              <a:ext uri="{FF2B5EF4-FFF2-40B4-BE49-F238E27FC236}">
                <a16:creationId xmlns:a16="http://schemas.microsoft.com/office/drawing/2014/main" id="{72798C79-BD16-4654-8053-5C9EA1A1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ee2624f624f9c"/>
          <a:stretch xmlns:a="http://schemas.openxmlformats.org/drawingml/2006/main"/>
        </p:blipFill>
        <p:spPr>
          <a:xfrm xmlns:a="http://schemas.openxmlformats.org/drawingml/2006/main">
            <a:off x="985838" y="1657350"/>
            <a:ext cx="6029325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text-upvivq-840-191">
            <a:extLst xmlns:a="http://schemas.openxmlformats.org/drawingml/2006/main">
              <a:ext uri="{FF2B5EF4-FFF2-40B4-BE49-F238E27FC236}">
                <a16:creationId xmlns:a16="http://schemas.microsoft.com/office/drawing/2014/main" id="{5701DE23-C4A8-45C9-99DB-33EF9BC0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1927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布幅 160 cm</a:t>
            </a:r>
          </a:p>
        </p:txBody>
      </p:sp>
      <p:sp>
        <p:nvSpPr>
          <p:cNvPr id="6" name="text-upvivq-840-279">
            <a:extLst xmlns:a="http://schemas.openxmlformats.org/drawingml/2006/main">
              <a:ext uri="{FF2B5EF4-FFF2-40B4-BE49-F238E27FC236}">
                <a16:creationId xmlns:a16="http://schemas.microsoft.com/office/drawing/2014/main" id="{7F3B3CC9-1BBE-40F8-A9CF-6A55162F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5747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A：80 × 120 cm，2 片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B：80 × 60 cm，2 片</a:t>
            </a:r>
          </a:p>
        </p:txBody>
      </p:sp>
      <p:sp>
        <p:nvSpPr>
          <p:cNvPr id="7" name="text-upvivq-840-432">
            <a:extLst xmlns:a="http://schemas.openxmlformats.org/drawingml/2006/main">
              <a:ext uri="{FF2B5EF4-FFF2-40B4-BE49-F238E27FC236}">
                <a16:creationId xmlns:a16="http://schemas.microsoft.com/office/drawing/2014/main" id="{713DD82A-675C-45EE-8543-967F77D5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3429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本例用布长度</a:t>
            </a:r>
          </a:p>
          <a:p xmlns:a="http://schemas.openxmlformats.org/drawingml/2006/main">
            <a:pPr>
              <a:defRPr sz="27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180 cm</a:t>
            </a:r>
          </a:p>
        </p:txBody>
      </p:sp>
      <p:sp>
        <p:nvSpPr>
          <p:cNvPr id="8" name="text-upvivq-66-625">
            <a:extLst xmlns:a="http://schemas.openxmlformats.org/drawingml/2006/main">
              <a:ext uri="{FF2B5EF4-FFF2-40B4-BE49-F238E27FC236}">
                <a16:creationId xmlns:a16="http://schemas.microsoft.com/office/drawing/2014/main" id="{77E8D966-7A51-44FB-BE6F-29BCEF40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示例未计布边、刀缝、缩水及瑕疵。尺寸应采用生产所需的裁切尺寸。</a:t>
            </a:r>
          </a:p>
        </p:txBody>
      </p:sp>
    </p:spTree>
    <p:extLst>
      <p:ext uri="{BB962C8B-B14F-4D97-AF65-F5344CB8AC3E}">
        <p14:creationId xmlns:p14="http://schemas.microsoft.com/office/powerpoint/2010/main" val="462071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pd5gfb-64-50">
            <a:extLst xmlns:a="http://schemas.openxmlformats.org/drawingml/2006/main">
              <a:ext uri="{FF2B5EF4-FFF2-40B4-BE49-F238E27FC236}">
                <a16:creationId xmlns:a16="http://schemas.microsoft.com/office/drawing/2014/main" id="{DE7CB572-A865-4409-911B-DBB9008D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二维排料必须符合设备切法</a:t>
            </a:r>
          </a:p>
        </p:txBody>
      </p:sp>
      <p:sp>
        <p:nvSpPr>
          <p:cNvPr id="2" name="text-pd5gfb-66-130">
            <a:extLst xmlns:a="http://schemas.openxmlformats.org/drawingml/2006/main">
              <a:ext uri="{FF2B5EF4-FFF2-40B4-BE49-F238E27FC236}">
                <a16:creationId xmlns:a16="http://schemas.microsoft.com/office/drawing/2014/main" id="{79DD54F8-0E7A-491F-A5DC-836E099B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扩展方案</a:t>
            </a:r>
          </a:p>
        </p:txBody>
      </p:sp>
      <p:sp>
        <p:nvSpPr>
          <p:cNvPr id="3" name="text-pd5gfb-1174-665">
            <a:extLst xmlns:a="http://schemas.openxmlformats.org/drawingml/2006/main">
              <a:ext uri="{FF2B5EF4-FFF2-40B4-BE49-F238E27FC236}">
                <a16:creationId xmlns:a16="http://schemas.microsoft.com/office/drawing/2014/main" id="{F655A52D-E833-4425-A9E3-77A2A204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-pd5gfb-70-209">
            <a:extLst xmlns:a="http://schemas.openxmlformats.org/drawingml/2006/main">
              <a:ext uri="{FF2B5EF4-FFF2-40B4-BE49-F238E27FC236}">
                <a16:creationId xmlns:a16="http://schemas.microsoft.com/office/drawing/2014/main" id="{6E271F3B-094C-4ADF-90E3-A34B2A55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分条与贯通切割</a:t>
            </a:r>
          </a:p>
        </p:txBody>
      </p:sp>
      <p:sp>
        <p:nvSpPr>
          <p:cNvPr id="5" name="text-pd5gfb-70-261">
            <a:extLst xmlns:a="http://schemas.openxmlformats.org/drawingml/2006/main">
              <a:ext uri="{FF2B5EF4-FFF2-40B4-BE49-F238E27FC236}">
                <a16:creationId xmlns:a16="http://schemas.microsoft.com/office/drawing/2014/main" id="{DF4A2580-6233-46A9-BD15-3E72B092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500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先分条再横切，或逐步贯通切开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需要满足分切阶段和顺序要求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每一步都应能在设备上执行</a:t>
            </a:r>
          </a:p>
        </p:txBody>
      </p:sp>
      <p:sp>
        <p:nvSpPr>
          <p:cNvPr id="6" name="text-pd5gfb-690-209">
            <a:extLst xmlns:a="http://schemas.openxmlformats.org/drawingml/2006/main">
              <a:ext uri="{FF2B5EF4-FFF2-40B4-BE49-F238E27FC236}">
                <a16:creationId xmlns:a16="http://schemas.microsoft.com/office/drawing/2014/main" id="{1E8929D0-A5D5-4EB8-A955-98E94B35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9072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沿矩形轮廓切割</a:t>
            </a:r>
          </a:p>
        </p:txBody>
      </p:sp>
      <p:sp>
        <p:nvSpPr>
          <p:cNvPr id="7" name="text-pd5gfb-690-261">
            <a:extLst xmlns:a="http://schemas.openxmlformats.org/drawingml/2006/main">
              <a:ext uri="{FF2B5EF4-FFF2-40B4-BE49-F238E27FC236}">
                <a16:creationId xmlns:a16="http://schemas.microsoft.com/office/drawing/2014/main" id="{B566AD2A-201D-4442-9471-04BA8741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86025"/>
            <a:ext cx="500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按各裁片轮廓安排切割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布局自由度取决于裁床能力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仍需核对刀路、间距及夹持条件</a:t>
            </a:r>
          </a:p>
        </p:txBody>
      </p:sp>
      <p:sp>
        <p:nvSpPr>
          <p:cNvPr id="8" name="text-pd5gfb-70-476">
            <a:extLst xmlns:a="http://schemas.openxmlformats.org/drawingml/2006/main">
              <a:ext uri="{FF2B5EF4-FFF2-40B4-BE49-F238E27FC236}">
                <a16:creationId xmlns:a16="http://schemas.microsoft.com/office/drawing/2014/main" id="{BCAB97A1-CB7F-4E7E-B94F-74681E8B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共同约束</a:t>
            </a:r>
          </a:p>
        </p:txBody>
      </p:sp>
      <p:sp>
        <p:nvSpPr>
          <p:cNvPr id="9" name="text-pd5gfb-70-536">
            <a:extLst xmlns:a="http://schemas.openxmlformats.org/drawingml/2006/main">
              <a:ext uri="{FF2B5EF4-FFF2-40B4-BE49-F238E27FC236}">
                <a16:creationId xmlns:a16="http://schemas.microsoft.com/office/drawing/2014/main" id="{1581C548-4325-473C-9185-CF0ACA35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布幅和剩余长度     经纬方向     旋转权限     裁切间距</a:t>
            </a:r>
          </a:p>
        </p:txBody>
      </p:sp>
    </p:spTree>
    <p:extLst>
      <p:ext uri="{BB962C8B-B14F-4D97-AF65-F5344CB8AC3E}">
        <p14:creationId xmlns:p14="http://schemas.microsoft.com/office/powerpoint/2010/main" val="13754763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pkwibl-64-50">
            <a:extLst xmlns:a="http://schemas.openxmlformats.org/drawingml/2006/main">
              <a:ext uri="{FF2B5EF4-FFF2-40B4-BE49-F238E27FC236}">
                <a16:creationId xmlns:a16="http://schemas.microsoft.com/office/drawing/2014/main" id="{5D4BAF77-A0A6-4727-8CB1-40236921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局部瑕疵作为排料禁放区域</a:t>
            </a:r>
          </a:p>
        </p:txBody>
      </p:sp>
      <p:sp>
        <p:nvSpPr>
          <p:cNvPr id="2" name="text-pkwibl-66-130">
            <a:extLst xmlns:a="http://schemas.openxmlformats.org/drawingml/2006/main">
              <a:ext uri="{FF2B5EF4-FFF2-40B4-BE49-F238E27FC236}">
                <a16:creationId xmlns:a16="http://schemas.microsoft.com/office/drawing/2014/main" id="{D46C126B-B05A-46C0-8222-247EA39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扩展方案</a:t>
            </a:r>
          </a:p>
        </p:txBody>
      </p:sp>
      <p:sp>
        <p:nvSpPr>
          <p:cNvPr id="3" name="text-pkwibl-1174-665">
            <a:extLst xmlns:a="http://schemas.openxmlformats.org/drawingml/2006/main">
              <a:ext uri="{FF2B5EF4-FFF2-40B4-BE49-F238E27FC236}">
                <a16:creationId xmlns:a16="http://schemas.microsoft.com/office/drawing/2014/main" id="{D41EF5EE-1850-422D-BEB0-1AC5FFA2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4c718eef84b68"/>
          <a:stretch xmlns:a="http://schemas.openxmlformats.org/drawingml/2006/main"/>
        </p:blipFill>
        <p:spPr>
          <a:xfrm xmlns:a="http://schemas.openxmlformats.org/drawingml/2006/main">
            <a:off x="928688" y="1714500"/>
            <a:ext cx="6057900" cy="4038600"/>
          </a:xfrm>
          <a:prstGeom xmlns:a="http://schemas.openxmlformats.org/drawingml/2006/main" prst="rect">
            <a:avLst/>
          </a:prstGeom>
        </p:spPr>
      </p:pic>
      <p:sp>
        <p:nvSpPr>
          <p:cNvPr id="5" name="text-pkwibl-850-193">
            <a:extLst xmlns:a="http://schemas.openxmlformats.org/drawingml/2006/main">
              <a:ext uri="{FF2B5EF4-FFF2-40B4-BE49-F238E27FC236}">
                <a16:creationId xmlns:a16="http://schemas.microsoft.com/office/drawing/2014/main" id="{31435E3E-3978-420A-ADE3-F945CE23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383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红色实心：瑕疵</a:t>
            </a:r>
          </a:p>
        </p:txBody>
      </p:sp>
      <p:sp>
        <p:nvSpPr>
          <p:cNvPr id="6" name="text-pkwibl-850-245">
            <a:extLst xmlns:a="http://schemas.openxmlformats.org/drawingml/2006/main">
              <a:ext uri="{FF2B5EF4-FFF2-40B4-BE49-F238E27FC236}">
                <a16:creationId xmlns:a16="http://schemas.microsoft.com/office/drawing/2014/main" id="{A6408AC4-4EB7-4861-BC4D-8C1A9A02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孔洞、污点等实际缺陷区域</a:t>
            </a:r>
          </a:p>
        </p:txBody>
      </p:sp>
      <p:sp>
        <p:nvSpPr>
          <p:cNvPr id="7" name="text-pkwibl-850-347">
            <a:extLst xmlns:a="http://schemas.openxmlformats.org/drawingml/2006/main">
              <a:ext uri="{FF2B5EF4-FFF2-40B4-BE49-F238E27FC236}">
                <a16:creationId xmlns:a16="http://schemas.microsoft.com/office/drawing/2014/main" id="{2034A15C-33D1-4B96-BEA5-D04B7472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0517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红色虚线：避让边界</a:t>
            </a:r>
          </a:p>
        </p:txBody>
      </p:sp>
      <p:sp>
        <p:nvSpPr>
          <p:cNvPr id="8" name="text-pkwibl-850-399">
            <a:extLst xmlns:a="http://schemas.openxmlformats.org/drawingml/2006/main">
              <a:ext uri="{FF2B5EF4-FFF2-40B4-BE49-F238E27FC236}">
                <a16:creationId xmlns:a16="http://schemas.microsoft.com/office/drawing/2014/main" id="{190E52F6-BE38-48B3-87CD-19E939D0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0047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在瑕疵周围增加工艺余量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合格裁片不可进入</a:t>
            </a:r>
          </a:p>
        </p:txBody>
      </p:sp>
      <p:sp>
        <p:nvSpPr>
          <p:cNvPr id="9" name="text-pkwibl-850-536">
            <a:extLst xmlns:a="http://schemas.openxmlformats.org/drawingml/2006/main">
              <a:ext uri="{FF2B5EF4-FFF2-40B4-BE49-F238E27FC236}">
                <a16:creationId xmlns:a16="http://schemas.microsoft.com/office/drawing/2014/main" id="{52DEEA77-DE34-4737-97FA-3EDF3DF3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周围好布仍可利用</a:t>
            </a:r>
          </a:p>
        </p:txBody>
      </p:sp>
      <p:sp>
        <p:nvSpPr>
          <p:cNvPr id="10" name="text-pkwibl-66-625">
            <a:extLst xmlns:a="http://schemas.openxmlformats.org/drawingml/2006/main">
              <a:ext uri="{FF2B5EF4-FFF2-40B4-BE49-F238E27FC236}">
                <a16:creationId xmlns:a16="http://schemas.microsoft.com/office/drawing/2014/main" id="{4934786A-865C-4603-8B71-61D0D0A6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概念示意，不按比例，不代表具体订单的求解结果或可执行刀路。</a:t>
            </a:r>
          </a:p>
        </p:txBody>
      </p:sp>
    </p:spTree>
    <p:extLst>
      <p:ext uri="{BB962C8B-B14F-4D97-AF65-F5344CB8AC3E}">
        <p14:creationId xmlns:p14="http://schemas.microsoft.com/office/powerpoint/2010/main" val="15194747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rb541t-64-50">
            <a:extLst xmlns:a="http://schemas.openxmlformats.org/drawingml/2006/main">
              <a:ext uri="{FF2B5EF4-FFF2-40B4-BE49-F238E27FC236}">
                <a16:creationId xmlns:a16="http://schemas.microsoft.com/office/drawing/2014/main" id="{EE8BD8B2-FB50-4FD1-BF1F-95F11ACE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瑕疵地图需要与实际布卷对齐</a:t>
            </a:r>
          </a:p>
        </p:txBody>
      </p:sp>
      <p:sp>
        <p:nvSpPr>
          <p:cNvPr id="2" name="text-rb541t-66-130">
            <a:extLst xmlns:a="http://schemas.openxmlformats.org/drawingml/2006/main">
              <a:ext uri="{FF2B5EF4-FFF2-40B4-BE49-F238E27FC236}">
                <a16:creationId xmlns:a16="http://schemas.microsoft.com/office/drawing/2014/main" id="{B2B885A8-3145-4E5C-AF06-45415FEC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扩展方案</a:t>
            </a:r>
          </a:p>
        </p:txBody>
      </p:sp>
      <p:sp>
        <p:nvSpPr>
          <p:cNvPr id="3" name="text-rb541t-1174-665">
            <a:extLst xmlns:a="http://schemas.openxmlformats.org/drawingml/2006/main">
              <a:ext uri="{FF2B5EF4-FFF2-40B4-BE49-F238E27FC236}">
                <a16:creationId xmlns:a16="http://schemas.microsoft.com/office/drawing/2014/main" id="{3DA153BA-CAB0-42DC-8B05-4A891DBE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591425"/>
              </a:tblGrid>
              <a:tr h="571500"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记录内容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教学示例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</a:tr>
              <a:tr h="571500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布卷与坐标基准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R001，左布边与布卷起点为基准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瑕疵位置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横向 x = 60 cm，纵向 y = 350 cm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</a:tr>
              <a:tr h="571500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瑕疵范围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 8 cm，长 12 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四周避让余量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2 cm，仅为说明用数值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</a:tr>
              <a:tr h="571500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最终禁放范围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横向 58～70 cm，纵向 348～364 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rb541t-66-625">
            <a:extLst xmlns:a="http://schemas.openxmlformats.org/drawingml/2006/main">
              <a:ext uri="{FF2B5EF4-FFF2-40B4-BE49-F238E27FC236}">
                <a16:creationId xmlns:a16="http://schemas.microsoft.com/office/drawing/2014/main" id="{92CD3884-68B9-4E43-B302-2B0318D1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验布机记录或人工标记均可作为输入，需统一单位、放卷方向及计米基准。</a:t>
            </a:r>
          </a:p>
        </p:txBody>
      </p:sp>
    </p:spTree>
    <p:extLst>
      <p:ext uri="{BB962C8B-B14F-4D97-AF65-F5344CB8AC3E}">
        <p14:creationId xmlns:p14="http://schemas.microsoft.com/office/powerpoint/2010/main" val="2087915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pmghnh-64-50">
            <a:extLst xmlns:a="http://schemas.openxmlformats.org/drawingml/2006/main">
              <a:ext uri="{FF2B5EF4-FFF2-40B4-BE49-F238E27FC236}">
                <a16:creationId xmlns:a16="http://schemas.microsoft.com/office/drawing/2014/main" id="{5B81CD71-D4E5-41F1-9747-1D30809A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瑕疵避让的现场使用方式</a:t>
            </a:r>
          </a:p>
        </p:txBody>
      </p:sp>
      <p:sp>
        <p:nvSpPr>
          <p:cNvPr id="2" name="text-pmghnh-66-130">
            <a:extLst xmlns:a="http://schemas.openxmlformats.org/drawingml/2006/main">
              <a:ext uri="{FF2B5EF4-FFF2-40B4-BE49-F238E27FC236}">
                <a16:creationId xmlns:a16="http://schemas.microsoft.com/office/drawing/2014/main" id="{FFD019C3-3C09-4040-BEDF-DF0BA93E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扩展方案</a:t>
            </a:r>
          </a:p>
        </p:txBody>
      </p:sp>
      <p:sp>
        <p:nvSpPr>
          <p:cNvPr id="3" name="text-pmghnh-1174-665">
            <a:extLst xmlns:a="http://schemas.openxmlformats.org/drawingml/2006/main">
              <a:ext uri="{FF2B5EF4-FFF2-40B4-BE49-F238E27FC236}">
                <a16:creationId xmlns:a16="http://schemas.microsoft.com/office/drawing/2014/main" id="{7BA127DE-E4C9-4D74-8AE4-D15E9E63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pmghnh-69-190">
            <a:extLst xmlns:a="http://schemas.openxmlformats.org/drawingml/2006/main">
              <a:ext uri="{FF2B5EF4-FFF2-40B4-BE49-F238E27FC236}">
                <a16:creationId xmlns:a16="http://schemas.microsoft.com/office/drawing/2014/main" id="{68D78968-8D6B-4AF3-B07B-A2214F37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09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提前验布</a:t>
            </a:r>
          </a:p>
        </p:txBody>
      </p:sp>
      <p:sp>
        <p:nvSpPr>
          <p:cNvPr id="5" name="text-pmghnh-424-193">
            <a:extLst xmlns:a="http://schemas.openxmlformats.org/drawingml/2006/main">
              <a:ext uri="{FF2B5EF4-FFF2-40B4-BE49-F238E27FC236}">
                <a16:creationId xmlns:a16="http://schemas.microsoft.com/office/drawing/2014/main" id="{89673632-AD62-4ADF-A482-FF239499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38325"/>
            <a:ext cx="7296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导入布卷瑕疵位置后，再进行整体排料</a:t>
            </a:r>
          </a:p>
        </p:txBody>
      </p:sp>
      <p:sp>
        <p:nvSpPr>
          <p:cNvPr id="6" name="text-pmghnh-69-293">
            <a:extLst xmlns:a="http://schemas.openxmlformats.org/drawingml/2006/main">
              <a:ext uri="{FF2B5EF4-FFF2-40B4-BE49-F238E27FC236}">
                <a16:creationId xmlns:a16="http://schemas.microsoft.com/office/drawing/2014/main" id="{16B3E858-6721-4D9D-A895-17EBD592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908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现场新发现</a:t>
            </a:r>
          </a:p>
        </p:txBody>
      </p:sp>
      <p:sp>
        <p:nvSpPr>
          <p:cNvPr id="7" name="text-pmghnh-424-296">
            <a:extLst xmlns:a="http://schemas.openxmlformats.org/drawingml/2006/main">
              <a:ext uri="{FF2B5EF4-FFF2-40B4-BE49-F238E27FC236}">
                <a16:creationId xmlns:a16="http://schemas.microsoft.com/office/drawing/2014/main" id="{E6906C72-1CED-41FF-8A53-EDD491B4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19400"/>
            <a:ext cx="7296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锁定已裁及正在执行部分，重排后续可调整区域</a:t>
            </a:r>
          </a:p>
        </p:txBody>
      </p:sp>
      <p:sp>
        <p:nvSpPr>
          <p:cNvPr id="8" name="text-pmghnh-69-396">
            <a:extLst xmlns:a="http://schemas.openxmlformats.org/drawingml/2006/main">
              <a:ext uri="{FF2B5EF4-FFF2-40B4-BE49-F238E27FC236}">
                <a16:creationId xmlns:a16="http://schemas.microsoft.com/office/drawing/2014/main" id="{C0D45920-B76E-4F1C-A094-C3529568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719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重复用同一张图</a:t>
            </a:r>
          </a:p>
        </p:txBody>
      </p:sp>
      <p:sp>
        <p:nvSpPr>
          <p:cNvPr id="9" name="text-pmghnh-424-399">
            <a:extLst xmlns:a="http://schemas.openxmlformats.org/drawingml/2006/main">
              <a:ext uri="{FF2B5EF4-FFF2-40B4-BE49-F238E27FC236}">
                <a16:creationId xmlns:a16="http://schemas.microsoft.com/office/drawing/2014/main" id="{C16B11F6-94D2-4E6E-B1D6-2C666D7D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00475"/>
            <a:ext cx="7296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换布卷或换布段时，重新检查当地瑕疵</a:t>
            </a:r>
          </a:p>
        </p:txBody>
      </p:sp>
      <p:sp>
        <p:nvSpPr>
          <p:cNvPr id="10" name="text-pmghnh-69-499">
            <a:extLst xmlns:a="http://schemas.openxmlformats.org/drawingml/2006/main">
              <a:ext uri="{FF2B5EF4-FFF2-40B4-BE49-F238E27FC236}">
                <a16:creationId xmlns:a16="http://schemas.microsoft.com/office/drawing/2014/main" id="{0D62FF68-F831-46BF-AE99-7451FF01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529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多层铺布</a:t>
            </a:r>
          </a:p>
        </p:txBody>
      </p:sp>
      <p:sp>
        <p:nvSpPr>
          <p:cNvPr id="11" name="text-pmghnh-424-502">
            <a:extLst xmlns:a="http://schemas.openxmlformats.org/drawingml/2006/main">
              <a:ext uri="{FF2B5EF4-FFF2-40B4-BE49-F238E27FC236}">
                <a16:creationId xmlns:a16="http://schemas.microsoft.com/office/drawing/2014/main" id="{C46109AE-C78F-46C9-8FAA-D01BCCE1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81550"/>
            <a:ext cx="7296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将各层瑕疵映射到裁床，避开合并后的禁放区域</a:t>
            </a:r>
          </a:p>
        </p:txBody>
      </p:sp>
      <p:sp>
        <p:nvSpPr>
          <p:cNvPr id="12" name="text-pmghnh-66-625">
            <a:extLst xmlns:a="http://schemas.openxmlformats.org/drawingml/2006/main">
              <a:ext uri="{FF2B5EF4-FFF2-40B4-BE49-F238E27FC236}">
                <a16:creationId xmlns:a16="http://schemas.microsoft.com/office/drawing/2014/main" id="{6D8B4A4F-6120-4F9F-AFF4-EDF0D06D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多层场景如需拆层、补片或调整铺布分组，应另行确认数量与质量处理规则。</a:t>
            </a:r>
          </a:p>
        </p:txBody>
      </p:sp>
    </p:spTree>
    <p:extLst>
      <p:ext uri="{BB962C8B-B14F-4D97-AF65-F5344CB8AC3E}">
        <p14:creationId xmlns:p14="http://schemas.microsoft.com/office/powerpoint/2010/main" val="4849990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eh060q-64-50">
            <a:extLst xmlns:a="http://schemas.openxmlformats.org/drawingml/2006/main">
              <a:ext uri="{FF2B5EF4-FFF2-40B4-BE49-F238E27FC236}">
                <a16:creationId xmlns:a16="http://schemas.microsoft.com/office/drawing/2014/main" id="{F9CEA658-ED76-4CF0-B90D-7F8882EA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二维扩展可复用什么、需要新增什么</a:t>
            </a:r>
          </a:p>
        </p:txBody>
      </p:sp>
      <p:sp>
        <p:nvSpPr>
          <p:cNvPr id="2" name="text-eh060q-1174-665">
            <a:extLst xmlns:a="http://schemas.openxmlformats.org/drawingml/2006/main">
              <a:ext uri="{FF2B5EF4-FFF2-40B4-BE49-F238E27FC236}">
                <a16:creationId xmlns:a16="http://schemas.microsoft.com/office/drawing/2014/main" id="{BD188FC7-BFDB-4265-8E4C-B55B5747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038600"/>
                <a:gridCol w="4743450"/>
              </a:tblGrid>
              <a:tr h="612775"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当前基础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二维扩展内容</a:t>
                      </a:r>
                    </a:p>
                  </a:txBody>
                  <a:tcPr marL="91440" marR="91440" marT="45720" marB="45720" anchor="ctr">
                    <a:solidFill>
                      <a:srgbClr val="102B46"/>
                    </a:solidFill>
                  </a:tcPr>
                </a:tc>
              </a:tr>
              <a:tr h="612775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订单与求解任务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已有一维订单接入与求解流程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增加布卷、长宽与瑕疵数据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切割模式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宽度组合及使用次数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增加裁片位置、方向与布段布局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</a:tr>
              <a:tr h="612775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需求覆盖、卷宽和废边等规则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增加不重叠、方向、缺陷与切法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结果交付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一维切割安排及明细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增加二维排料图和裁片明细</a:t>
                      </a:r>
                    </a:p>
                  </a:txBody>
                  <a:tcPr marL="91440" marR="91440" marT="45720" marB="45720" anchor="ctr">
                    <a:solidFill>
                      <a:srgbClr val="EDF5F7"/>
                    </a:solidFill>
                  </a:tcPr>
                </a:tc>
              </a:tr>
              <a:tr h="612775"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现场连接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结合现有APS接口能力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95250" bIns="95250"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验布机、裁床接口需单独适配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eh060q-66-625">
            <a:extLst xmlns:a="http://schemas.openxmlformats.org/drawingml/2006/main">
              <a:ext uri="{FF2B5EF4-FFF2-40B4-BE49-F238E27FC236}">
                <a16:creationId xmlns:a16="http://schemas.microsoft.com/office/drawing/2014/main" id="{5409DFF4-CBBA-4E95-BD18-A9CA2637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当前产品为一维切割后端。二维排料、瑕疵避让和设备联动属于待验证的扩展范围。</a:t>
            </a:r>
          </a:p>
        </p:txBody>
      </p:sp>
    </p:spTree>
    <p:extLst>
      <p:ext uri="{BB962C8B-B14F-4D97-AF65-F5344CB8AC3E}">
        <p14:creationId xmlns:p14="http://schemas.microsoft.com/office/powerpoint/2010/main" val="13477927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dpmz33-64-50">
            <a:extLst xmlns:a="http://schemas.openxmlformats.org/drawingml/2006/main">
              <a:ext uri="{FF2B5EF4-FFF2-40B4-BE49-F238E27FC236}">
                <a16:creationId xmlns:a16="http://schemas.microsoft.com/office/drawing/2014/main" id="{52E86015-12C5-4B92-AE30-B84EC6B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客户样本验证的输入与评价</a:t>
            </a:r>
          </a:p>
        </p:txBody>
      </p:sp>
      <p:sp>
        <p:nvSpPr>
          <p:cNvPr id="2" name="text-dpmz33-1174-665">
            <a:extLst xmlns:a="http://schemas.openxmlformats.org/drawingml/2006/main">
              <a:ext uri="{FF2B5EF4-FFF2-40B4-BE49-F238E27FC236}">
                <a16:creationId xmlns:a16="http://schemas.microsoft.com/office/drawing/2014/main" id="{8EAE373B-A495-4329-AD4E-002B505A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text-dpmz33-70-196">
            <a:extLst xmlns:a="http://schemas.openxmlformats.org/drawingml/2006/main">
              <a:ext uri="{FF2B5EF4-FFF2-40B4-BE49-F238E27FC236}">
                <a16:creationId xmlns:a16="http://schemas.microsoft.com/office/drawing/2014/main" id="{C552EC0C-BB9F-4791-8A4D-56E29C17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客户提供的样本</a:t>
            </a:r>
          </a:p>
        </p:txBody>
      </p:sp>
      <p:sp>
        <p:nvSpPr>
          <p:cNvPr id="4" name="text-dpmz33-70-248">
            <a:extLst xmlns:a="http://schemas.openxmlformats.org/drawingml/2006/main">
              <a:ext uri="{FF2B5EF4-FFF2-40B4-BE49-F238E27FC236}">
                <a16:creationId xmlns:a16="http://schemas.microsoft.com/office/drawing/2014/main" id="{9847C884-70D4-44EC-AEE9-F28B27B1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代表性订单及裁切尺寸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布卷宽度、长度和瑕疵记录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设备切法与现行人工方案</a:t>
            </a:r>
          </a:p>
        </p:txBody>
      </p:sp>
      <p:sp>
        <p:nvSpPr>
          <p:cNvPr id="5" name="text-dpmz33-690-196">
            <a:extLst xmlns:a="http://schemas.openxmlformats.org/drawingml/2006/main">
              <a:ext uri="{FF2B5EF4-FFF2-40B4-BE49-F238E27FC236}">
                <a16:creationId xmlns:a16="http://schemas.microsoft.com/office/drawing/2014/main" id="{E1A0A472-42FE-4359-B6B0-9393ADE5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同条件对比的结果</a:t>
            </a:r>
          </a:p>
        </p:txBody>
      </p:sp>
      <p:sp>
        <p:nvSpPr>
          <p:cNvPr id="6" name="text-dpmz33-690-248">
            <a:extLst xmlns:a="http://schemas.openxmlformats.org/drawingml/2006/main">
              <a:ext uri="{FF2B5EF4-FFF2-40B4-BE49-F238E27FC236}">
                <a16:creationId xmlns:a16="http://schemas.microsoft.com/office/drawing/2014/main" id="{E01D27C0-3A5A-475F-80CD-77659E72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订单数量和品质是否满足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实际用布长度与可用余料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排料耗时及现场切割可执行性</a:t>
            </a:r>
          </a:p>
        </p:txBody>
      </p:sp>
      <p:sp>
        <p:nvSpPr>
          <p:cNvPr id="7" name="text-dpmz33-70-465">
            <a:extLst xmlns:a="http://schemas.openxmlformats.org/drawingml/2006/main">
              <a:ext uri="{FF2B5EF4-FFF2-40B4-BE49-F238E27FC236}">
                <a16:creationId xmlns:a16="http://schemas.microsoft.com/office/drawing/2014/main" id="{34534FEC-783A-4B48-8BE8-29B7DF0E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节料率 =（基准用布量 − 方案用布量）÷ 基准用布量</a:t>
            </a:r>
          </a:p>
        </p:txBody>
      </p:sp>
      <p:sp>
        <p:nvSpPr>
          <p:cNvPr id="8" name="text-dpmz33-66-625">
            <a:extLst xmlns:a="http://schemas.openxmlformats.org/drawingml/2006/main">
              <a:ext uri="{FF2B5EF4-FFF2-40B4-BE49-F238E27FC236}">
                <a16:creationId xmlns:a16="http://schemas.microsoft.com/office/drawing/2014/main" id="{AB7F4F77-DFD7-4172-9BF4-AA7FC449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对比须使用相同订单、布料条件和质量规则。材料规格不同时，应统一面积或成本口径。</a:t>
            </a:r>
          </a:p>
        </p:txBody>
      </p:sp>
    </p:spTree>
    <p:extLst>
      <p:ext uri="{BB962C8B-B14F-4D97-AF65-F5344CB8AC3E}">
        <p14:creationId xmlns:p14="http://schemas.microsoft.com/office/powerpoint/2010/main" val="9995389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hjbs0c-64-50">
            <a:extLst xmlns:a="http://schemas.openxmlformats.org/drawingml/2006/main">
              <a:ext uri="{FF2B5EF4-FFF2-40B4-BE49-F238E27FC236}">
                <a16:creationId xmlns:a16="http://schemas.microsoft.com/office/drawing/2014/main" id="{2F445F1C-4F72-4D90-A09B-77382D87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下一步：确认客户的实际裁切场景</a:t>
            </a:r>
          </a:p>
        </p:txBody>
      </p:sp>
      <p:sp>
        <p:nvSpPr>
          <p:cNvPr id="2" name="text-hjbs0c-1174-665">
            <a:extLst xmlns:a="http://schemas.openxmlformats.org/drawingml/2006/main">
              <a:ext uri="{FF2B5EF4-FFF2-40B4-BE49-F238E27FC236}">
                <a16:creationId xmlns:a16="http://schemas.microsoft.com/office/drawing/2014/main" id="{3399A720-E317-4F2F-8FE0-0EBCB849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text-hjbs0c-70-191">
            <a:extLst xmlns:a="http://schemas.openxmlformats.org/drawingml/2006/main">
              <a:ext uri="{FF2B5EF4-FFF2-40B4-BE49-F238E27FC236}">
                <a16:creationId xmlns:a16="http://schemas.microsoft.com/office/drawing/2014/main" id="{5EC5CBCD-8C61-4965-9C97-C430BEB0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先用一批真实订单验证二维矩形排料</a:t>
            </a:r>
          </a:p>
        </p:txBody>
      </p:sp>
      <p:sp>
        <p:nvSpPr>
          <p:cNvPr id="4" name="text-hjbs0c-72-305">
            <a:extLst xmlns:a="http://schemas.openxmlformats.org/drawingml/2006/main">
              <a:ext uri="{FF2B5EF4-FFF2-40B4-BE49-F238E27FC236}">
                <a16:creationId xmlns:a16="http://schemas.microsoft.com/office/drawing/2014/main" id="{0AFF4202-2986-491E-898F-1083FF21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裁什么</a:t>
            </a:r>
          </a:p>
        </p:txBody>
      </p:sp>
      <p:sp>
        <p:nvSpPr>
          <p:cNvPr id="5" name="text-hjbs0c-382-307">
            <a:extLst xmlns:a="http://schemas.openxmlformats.org/drawingml/2006/main">
              <a:ext uri="{FF2B5EF4-FFF2-40B4-BE49-F238E27FC236}">
                <a16:creationId xmlns:a16="http://schemas.microsoft.com/office/drawing/2014/main" id="{8A479694-54D9-41AE-8D64-162CFEB6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24175"/>
            <a:ext cx="7715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裁切长宽、数量、材质与方向要求</a:t>
            </a:r>
          </a:p>
        </p:txBody>
      </p:sp>
      <p:sp>
        <p:nvSpPr>
          <p:cNvPr id="6" name="text-hjbs0c-72-377">
            <a:extLst xmlns:a="http://schemas.openxmlformats.org/drawingml/2006/main">
              <a:ext uri="{FF2B5EF4-FFF2-40B4-BE49-F238E27FC236}">
                <a16:creationId xmlns:a16="http://schemas.microsoft.com/office/drawing/2014/main" id="{5611983B-2100-4B8E-88F5-6A9DB6E5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用什么布</a:t>
            </a:r>
          </a:p>
        </p:txBody>
      </p:sp>
      <p:sp>
        <p:nvSpPr>
          <p:cNvPr id="7" name="text-hjbs0c-382-379">
            <a:extLst xmlns:a="http://schemas.openxmlformats.org/drawingml/2006/main">
              <a:ext uri="{FF2B5EF4-FFF2-40B4-BE49-F238E27FC236}">
                <a16:creationId xmlns:a16="http://schemas.microsoft.com/office/drawing/2014/main" id="{68DF5A9F-BE53-4EC6-AC0A-B25F002A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9975"/>
            <a:ext cx="7715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实际布幅、可用长度和瑕疵记录</a:t>
            </a:r>
          </a:p>
        </p:txBody>
      </p:sp>
      <p:sp>
        <p:nvSpPr>
          <p:cNvPr id="8" name="text-hjbs0c-72-449">
            <a:extLst xmlns:a="http://schemas.openxmlformats.org/drawingml/2006/main">
              <a:ext uri="{FF2B5EF4-FFF2-40B4-BE49-F238E27FC236}">
                <a16:creationId xmlns:a16="http://schemas.microsoft.com/office/drawing/2014/main" id="{449255C9-362F-400C-A1F1-40C7B08B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怎么切</a:t>
            </a:r>
          </a:p>
        </p:txBody>
      </p:sp>
      <p:sp>
        <p:nvSpPr>
          <p:cNvPr id="9" name="text-hjbs0c-382-451">
            <a:extLst xmlns:a="http://schemas.openxmlformats.org/drawingml/2006/main">
              <a:ext uri="{FF2B5EF4-FFF2-40B4-BE49-F238E27FC236}">
                <a16:creationId xmlns:a16="http://schemas.microsoft.com/office/drawing/2014/main" id="{9A1AC01D-674A-460B-8C04-94D3F755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95775"/>
            <a:ext cx="7715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分条横切或轮廓裁切，单层或多层铺布</a:t>
            </a:r>
          </a:p>
        </p:txBody>
      </p:sp>
      <p:sp>
        <p:nvSpPr>
          <p:cNvPr id="10" name="text-hjbs0c-72-521">
            <a:extLst xmlns:a="http://schemas.openxmlformats.org/drawingml/2006/main">
              <a:ext uri="{FF2B5EF4-FFF2-40B4-BE49-F238E27FC236}">
                <a16:creationId xmlns:a16="http://schemas.microsoft.com/office/drawing/2014/main" id="{17EBF037-0126-41F6-87AC-65A7CD74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怎样算有效</a:t>
            </a:r>
          </a:p>
        </p:txBody>
      </p:sp>
      <p:sp>
        <p:nvSpPr>
          <p:cNvPr id="11" name="text-hjbs0c-382-523">
            <a:extLst xmlns:a="http://schemas.openxmlformats.org/drawingml/2006/main">
              <a:ext uri="{FF2B5EF4-FFF2-40B4-BE49-F238E27FC236}">
                <a16:creationId xmlns:a16="http://schemas.microsoft.com/office/drawing/2014/main" id="{E20BEB3A-F913-435A-8A64-CFFB8512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81575"/>
            <a:ext cx="7715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数量与质量达标后，对比用布和执行效率</a:t>
            </a:r>
          </a:p>
        </p:txBody>
      </p:sp>
    </p:spTree>
    <p:extLst>
      <p:ext uri="{BB962C8B-B14F-4D97-AF65-F5344CB8AC3E}">
        <p14:creationId xmlns:p14="http://schemas.microsoft.com/office/powerpoint/2010/main" val="355304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2026-09-16T01:41:24.3810000Z</dcterms:created>
  <dcterms:modified xsi:type="dcterms:W3CDTF">2026-09-16T01:41:24.3810000Z</dcterms:modified>
</coreProperties>
</file>